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Open Sans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izFLCwwKopf4cdt9HWLIonz4fn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penSans-bold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9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2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889931" y="2148840"/>
            <a:ext cx="2560320" cy="2560320"/>
          </a:xfrm>
          <a:prstGeom prst="rect">
            <a:avLst/>
          </a:prstGeom>
          <a:noFill/>
          <a:ln cap="flat" cmpd="sng" w="76200">
            <a:solidFill>
              <a:srgbClr val="1E497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98713" y="2400836"/>
            <a:ext cx="4664597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Freight Dispatcher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980645" y="2497976"/>
            <a:ext cx="2560320" cy="1862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>
                <a:solidFill>
                  <a:srgbClr val="E3DE00"/>
                </a:solidFill>
                <a:latin typeface="Calibri"/>
                <a:ea typeface="Calibri"/>
                <a:cs typeface="Calibri"/>
                <a:sym typeface="Calibri"/>
              </a:rPr>
              <a:t>101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00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822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5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2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210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5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822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550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4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8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-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2" presetSubtype="2">
                                  <p:stCondLst>
                                    <p:cond delay="75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200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0" y="8828"/>
            <a:ext cx="12192000" cy="6947535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" name="Google Shape;100;p2"/>
          <p:cNvGrpSpPr/>
          <p:nvPr/>
        </p:nvGrpSpPr>
        <p:grpSpPr>
          <a:xfrm>
            <a:off x="1979471" y="2080549"/>
            <a:ext cx="1064119" cy="115112"/>
            <a:chOff x="2020111" y="1880303"/>
            <a:chExt cx="1064119" cy="115112"/>
          </a:xfrm>
        </p:grpSpPr>
        <p:sp>
          <p:nvSpPr>
            <p:cNvPr id="101" name="Google Shape;101;p2"/>
            <p:cNvSpPr/>
            <p:nvPr/>
          </p:nvSpPr>
          <p:spPr>
            <a:xfrm>
              <a:off x="2506251" y="1880644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4287F"/>
            </a:solidFill>
            <a:ln cap="flat" cmpd="sng" w="12700">
              <a:solidFill>
                <a:srgbClr val="9428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 flipH="1">
              <a:off x="2020111" y="1880303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4287F"/>
            </a:solidFill>
            <a:ln cap="flat" cmpd="sng" w="12700">
              <a:solidFill>
                <a:srgbClr val="9428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979472" y="2231423"/>
            <a:ext cx="1064117" cy="114772"/>
            <a:chOff x="2020112" y="2031177"/>
            <a:chExt cx="1064117" cy="114772"/>
          </a:xfrm>
        </p:grpSpPr>
        <p:sp>
          <p:nvSpPr>
            <p:cNvPr id="104" name="Google Shape;104;p2"/>
            <p:cNvSpPr/>
            <p:nvPr/>
          </p:nvSpPr>
          <p:spPr>
            <a:xfrm>
              <a:off x="2506250" y="2031178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0070C0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 flipH="1">
              <a:off x="2020112" y="2031177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0070C0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944689" y="1931054"/>
            <a:ext cx="1098900" cy="249073"/>
            <a:chOff x="1985329" y="1730808"/>
            <a:chExt cx="1098900" cy="249073"/>
          </a:xfrm>
        </p:grpSpPr>
        <p:sp>
          <p:nvSpPr>
            <p:cNvPr id="107" name="Google Shape;107;p2"/>
            <p:cNvSpPr/>
            <p:nvPr/>
          </p:nvSpPr>
          <p:spPr>
            <a:xfrm>
              <a:off x="2506250" y="1730810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 flipH="1" rot="-1418890">
              <a:off x="1993477" y="1798898"/>
              <a:ext cx="354164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 flipH="1" rot="10800000">
              <a:off x="2316892" y="1730808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2"/>
          <p:cNvSpPr txBox="1"/>
          <p:nvPr/>
        </p:nvSpPr>
        <p:spPr>
          <a:xfrm>
            <a:off x="2045825" y="580778"/>
            <a:ext cx="810035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COURSE STRUCTURE</a:t>
            </a:r>
            <a:endParaRPr/>
          </a:p>
        </p:txBody>
      </p:sp>
      <p:grpSp>
        <p:nvGrpSpPr>
          <p:cNvPr id="111" name="Google Shape;111;p2"/>
          <p:cNvGrpSpPr/>
          <p:nvPr/>
        </p:nvGrpSpPr>
        <p:grpSpPr>
          <a:xfrm>
            <a:off x="1114107" y="1014713"/>
            <a:ext cx="1074784" cy="114772"/>
            <a:chOff x="1118241" y="1010907"/>
            <a:chExt cx="1074784" cy="114772"/>
          </a:xfrm>
        </p:grpSpPr>
        <p:sp>
          <p:nvSpPr>
            <p:cNvPr id="112" name="Google Shape;112;p2"/>
            <p:cNvSpPr/>
            <p:nvPr/>
          </p:nvSpPr>
          <p:spPr>
            <a:xfrm>
              <a:off x="1615046" y="1010908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4287F"/>
            </a:solidFill>
            <a:ln cap="flat" cmpd="sng" w="12700">
              <a:solidFill>
                <a:srgbClr val="9428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2"/>
            <p:cNvSpPr/>
            <p:nvPr/>
          </p:nvSpPr>
          <p:spPr>
            <a:xfrm flipH="1">
              <a:off x="1118241" y="1010907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4287F"/>
            </a:solidFill>
            <a:ln cap="flat" cmpd="sng" w="12700">
              <a:solidFill>
                <a:srgbClr val="9428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4" name="Google Shape;114;p2"/>
          <p:cNvGrpSpPr/>
          <p:nvPr/>
        </p:nvGrpSpPr>
        <p:grpSpPr>
          <a:xfrm>
            <a:off x="1128907" y="1161441"/>
            <a:ext cx="1064117" cy="114772"/>
            <a:chOff x="1128907" y="1161441"/>
            <a:chExt cx="1064117" cy="114772"/>
          </a:xfrm>
        </p:grpSpPr>
        <p:sp>
          <p:nvSpPr>
            <p:cNvPr id="115" name="Google Shape;115;p2"/>
            <p:cNvSpPr/>
            <p:nvPr/>
          </p:nvSpPr>
          <p:spPr>
            <a:xfrm>
              <a:off x="1615045" y="1161442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0070C0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2"/>
            <p:cNvSpPr/>
            <p:nvPr/>
          </p:nvSpPr>
          <p:spPr>
            <a:xfrm flipH="1">
              <a:off x="1128907" y="1161441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0070C0"/>
            </a:solidFill>
            <a:ln cap="flat" cmpd="sng" w="12700">
              <a:solidFill>
                <a:srgbClr val="0070C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090432" y="865541"/>
            <a:ext cx="1098900" cy="249073"/>
            <a:chOff x="1094124" y="861072"/>
            <a:chExt cx="1098900" cy="249073"/>
          </a:xfrm>
        </p:grpSpPr>
        <p:sp>
          <p:nvSpPr>
            <p:cNvPr id="118" name="Google Shape;118;p2"/>
            <p:cNvSpPr/>
            <p:nvPr/>
          </p:nvSpPr>
          <p:spPr>
            <a:xfrm>
              <a:off x="1615045" y="861074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2"/>
            <p:cNvSpPr/>
            <p:nvPr/>
          </p:nvSpPr>
          <p:spPr>
            <a:xfrm flipH="1" rot="-1418890">
              <a:off x="1102272" y="929162"/>
              <a:ext cx="354164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2"/>
            <p:cNvSpPr/>
            <p:nvPr/>
          </p:nvSpPr>
          <p:spPr>
            <a:xfrm flipH="1" rot="10800000">
              <a:off x="1425687" y="861072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92D050"/>
            </a:solidFill>
            <a:ln cap="flat" cmpd="sng" w="12700">
              <a:solidFill>
                <a:srgbClr val="92D05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2"/>
          <p:cNvGrpSpPr/>
          <p:nvPr/>
        </p:nvGrpSpPr>
        <p:grpSpPr>
          <a:xfrm>
            <a:off x="1095359" y="1185852"/>
            <a:ext cx="1093532" cy="238756"/>
            <a:chOff x="1103157" y="1189375"/>
            <a:chExt cx="1093532" cy="238756"/>
          </a:xfrm>
        </p:grpSpPr>
        <p:sp>
          <p:nvSpPr>
            <p:cNvPr id="122" name="Google Shape;122;p2"/>
            <p:cNvSpPr/>
            <p:nvPr/>
          </p:nvSpPr>
          <p:spPr>
            <a:xfrm>
              <a:off x="1618710" y="1313360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 rot="-9381110">
              <a:off x="1112188" y="1251368"/>
              <a:ext cx="333125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2"/>
            <p:cNvSpPr/>
            <p:nvPr/>
          </p:nvSpPr>
          <p:spPr>
            <a:xfrm>
              <a:off x="1417843" y="1313360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5" name="Google Shape;125;p2"/>
          <p:cNvGrpSpPr/>
          <p:nvPr/>
        </p:nvGrpSpPr>
        <p:grpSpPr>
          <a:xfrm>
            <a:off x="1955183" y="2257157"/>
            <a:ext cx="1088406" cy="239098"/>
            <a:chOff x="2388918" y="2594550"/>
            <a:chExt cx="1088406" cy="239098"/>
          </a:xfrm>
        </p:grpSpPr>
        <p:sp>
          <p:nvSpPr>
            <p:cNvPr id="126" name="Google Shape;126;p2"/>
            <p:cNvSpPr/>
            <p:nvPr/>
          </p:nvSpPr>
          <p:spPr>
            <a:xfrm>
              <a:off x="2899345" y="2718536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2"/>
            <p:cNvSpPr/>
            <p:nvPr/>
          </p:nvSpPr>
          <p:spPr>
            <a:xfrm rot="-9381110">
              <a:off x="2397949" y="2656543"/>
              <a:ext cx="333125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2"/>
            <p:cNvSpPr/>
            <p:nvPr/>
          </p:nvSpPr>
          <p:spPr>
            <a:xfrm>
              <a:off x="2699321" y="2718877"/>
              <a:ext cx="577979" cy="114771"/>
            </a:xfrm>
            <a:prstGeom prst="rightArrow">
              <a:avLst>
                <a:gd fmla="val 100000" name="adj1"/>
                <a:gd fmla="val 110800" name="adj2"/>
              </a:avLst>
            </a:prstGeom>
            <a:solidFill>
              <a:srgbClr val="FF0000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2"/>
          <p:cNvSpPr txBox="1"/>
          <p:nvPr/>
        </p:nvSpPr>
        <p:spPr>
          <a:xfrm>
            <a:off x="2760839" y="1654220"/>
            <a:ext cx="8100350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LESSON </a:t>
            </a:r>
            <a:r>
              <a:rPr b="1" lang="en-US" sz="6600">
                <a:solidFill>
                  <a:srgbClr val="D8E747"/>
                </a:solidFill>
                <a:latin typeface="Open Sans"/>
                <a:ea typeface="Open Sans"/>
                <a:cs typeface="Open Sans"/>
                <a:sym typeface="Open Sans"/>
              </a:rPr>
              <a:t>1 </a:t>
            </a:r>
            <a:r>
              <a:rPr lang="en-US" sz="6600">
                <a:solidFill>
                  <a:srgbClr val="F5F5F5"/>
                </a:solidFill>
                <a:latin typeface="Calibri"/>
                <a:ea typeface="Calibri"/>
                <a:cs typeface="Calibri"/>
                <a:sym typeface="Calibri"/>
              </a:rPr>
              <a:t>– PART </a:t>
            </a:r>
            <a:r>
              <a:rPr b="1" lang="en-US" sz="6600">
                <a:solidFill>
                  <a:srgbClr val="D8E747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  <a:endParaRPr b="1" sz="6600">
              <a:solidFill>
                <a:srgbClr val="F5F5F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1539638" y="2818376"/>
            <a:ext cx="8710916" cy="24314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FFFF00"/>
                </a:solidFill>
                <a:latin typeface="Open Sans"/>
                <a:ea typeface="Open Sans"/>
                <a:cs typeface="Open Sans"/>
                <a:sym typeface="Open Sans"/>
              </a:rPr>
              <a:t>WHAT IS 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0">
                <a:solidFill>
                  <a:srgbClr val="FFC000"/>
                </a:solidFill>
                <a:latin typeface="Open Sans"/>
                <a:ea typeface="Open Sans"/>
                <a:cs typeface="Open Sans"/>
                <a:sym typeface="Open Sans"/>
              </a:rPr>
              <a:t>“DISPATCHER”</a:t>
            </a:r>
            <a:endParaRPr/>
          </a:p>
        </p:txBody>
      </p:sp>
      <p:sp>
        <p:nvSpPr>
          <p:cNvPr id="131" name="Google Shape;131;p2"/>
          <p:cNvSpPr/>
          <p:nvPr/>
        </p:nvSpPr>
        <p:spPr>
          <a:xfrm>
            <a:off x="1042390" y="915470"/>
            <a:ext cx="386952" cy="438277"/>
          </a:xfrm>
          <a:prstGeom prst="flowChartConnector">
            <a:avLst/>
          </a:prstGeom>
          <a:solidFill>
            <a:srgbClr val="F19759"/>
          </a:solidFill>
          <a:ln cap="flat" cmpd="sng" w="19050">
            <a:solidFill>
              <a:srgbClr val="D8E7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1892955" y="1985452"/>
            <a:ext cx="386952" cy="438277"/>
          </a:xfrm>
          <a:prstGeom prst="flowChartConnector">
            <a:avLst/>
          </a:prstGeom>
          <a:solidFill>
            <a:srgbClr val="F19759"/>
          </a:solidFill>
          <a:ln cap="flat" cmpd="sng" w="19050">
            <a:solidFill>
              <a:srgbClr val="D8E74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2"/>
          <p:cNvGrpSpPr/>
          <p:nvPr/>
        </p:nvGrpSpPr>
        <p:grpSpPr>
          <a:xfrm>
            <a:off x="0" y="2984573"/>
            <a:ext cx="12192000" cy="3996202"/>
            <a:chOff x="0" y="3024211"/>
            <a:chExt cx="12192000" cy="3956563"/>
          </a:xfrm>
        </p:grpSpPr>
        <p:sp>
          <p:nvSpPr>
            <p:cNvPr id="134" name="Google Shape;134;p2"/>
            <p:cNvSpPr/>
            <p:nvPr/>
          </p:nvSpPr>
          <p:spPr>
            <a:xfrm>
              <a:off x="0" y="3820160"/>
              <a:ext cx="12192000" cy="3160614"/>
            </a:xfrm>
            <a:prstGeom prst="rect">
              <a:avLst/>
            </a:prstGeom>
            <a:solidFill>
              <a:srgbClr val="F5F5F5"/>
            </a:solidFill>
            <a:ln cap="flat" cmpd="sng" w="12700">
              <a:solidFill>
                <a:srgbClr val="F5F5F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421158" y="3024211"/>
              <a:ext cx="1665273" cy="1243726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0E0E2C"/>
            </a:solidFill>
            <a:ln cap="flat" cmpd="sng" w="12700">
              <a:solidFill>
                <a:srgbClr val="0E0E2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0" y="4530323"/>
            <a:ext cx="12192000" cy="2450450"/>
            <a:chOff x="0" y="4612197"/>
            <a:chExt cx="12192000" cy="2368576"/>
          </a:xfrm>
        </p:grpSpPr>
        <p:sp>
          <p:nvSpPr>
            <p:cNvPr id="137" name="Google Shape;137;p2"/>
            <p:cNvSpPr/>
            <p:nvPr/>
          </p:nvSpPr>
          <p:spPr>
            <a:xfrm>
              <a:off x="0" y="5418772"/>
              <a:ext cx="12192000" cy="1562001"/>
            </a:xfrm>
            <a:prstGeom prst="rect">
              <a:avLst/>
            </a:prstGeom>
            <a:solidFill>
              <a:srgbClr val="A5A5A5"/>
            </a:solidFill>
            <a:ln cap="flat" cmpd="sng" w="12700">
              <a:solidFill>
                <a:srgbClr val="F5F5F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401787" y="4612197"/>
              <a:ext cx="1665273" cy="1243726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rgbClr val="F5F5F5"/>
            </a:solidFill>
            <a:ln cap="flat" cmpd="sng" w="12700">
              <a:solidFill>
                <a:srgbClr val="F5F5F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" name="Google Shape;139;p2"/>
          <p:cNvSpPr txBox="1"/>
          <p:nvPr/>
        </p:nvSpPr>
        <p:spPr>
          <a:xfrm>
            <a:off x="421156" y="4281784"/>
            <a:ext cx="109478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Defining the term “Dispatcher”</a:t>
            </a:r>
            <a:endParaRPr/>
          </a:p>
        </p:txBody>
      </p:sp>
      <p:sp>
        <p:nvSpPr>
          <p:cNvPr id="140" name="Google Shape;140;p2"/>
          <p:cNvSpPr txBox="1"/>
          <p:nvPr/>
        </p:nvSpPr>
        <p:spPr>
          <a:xfrm>
            <a:off x="421156" y="5978732"/>
            <a:ext cx="1094788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Paycheck of a Freight Dispatcher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3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1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47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1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80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9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2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-16011331" y="-6527965"/>
            <a:ext cx="12192000" cy="5466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-15635414" y="-738855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E0E2C"/>
          </a:solidFill>
          <a:ln cap="flat" cmpd="sng" w="12700">
            <a:solidFill>
              <a:srgbClr val="0E0E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-16011331" y="0"/>
            <a:ext cx="12192000" cy="4064000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-15635413" y="-82429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0" y="-6527965"/>
            <a:ext cx="12192000" cy="2661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375918" y="-7370288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0" y="-2348602"/>
            <a:ext cx="12192000" cy="1286717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375918" y="-3289570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-15635414" y="-6083570"/>
            <a:ext cx="109478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3A38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-15465473" y="-5138092"/>
            <a:ext cx="1094788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A communications worker who receives and transmits information to coordinate operations of other personal and vehicles carrying out a service. </a:t>
            </a:r>
            <a:endParaRPr/>
          </a:p>
        </p:txBody>
      </p:sp>
      <p:sp>
        <p:nvSpPr>
          <p:cNvPr id="159" name="Google Shape;159;p3"/>
          <p:cNvSpPr txBox="1"/>
          <p:nvPr/>
        </p:nvSpPr>
        <p:spPr>
          <a:xfrm>
            <a:off x="-15468600" y="-6101835"/>
            <a:ext cx="104108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“Dispatcher”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9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2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0" y="-120917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-16011331" y="-6527965"/>
            <a:ext cx="12192000" cy="5466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-15635414" y="-738855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E0E2C"/>
          </a:solidFill>
          <a:ln cap="flat" cmpd="sng" w="12700">
            <a:solidFill>
              <a:srgbClr val="0E0E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-16011331" y="0"/>
            <a:ext cx="12192000" cy="4064000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-15635413" y="-82429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0" y="-6527965"/>
            <a:ext cx="12192000" cy="2661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375918" y="-7370288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0" y="-2348602"/>
            <a:ext cx="12192000" cy="1286717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375918" y="-3289570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 txBox="1"/>
          <p:nvPr/>
        </p:nvSpPr>
        <p:spPr>
          <a:xfrm>
            <a:off x="-15635414" y="-6083570"/>
            <a:ext cx="109478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Defining the term “Dispatcher”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97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200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0E2C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-16011331" y="-6527965"/>
            <a:ext cx="12192000" cy="54660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-15635414" y="-738855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E0E2C"/>
          </a:solidFill>
          <a:ln cap="flat" cmpd="sng" w="12700">
            <a:solidFill>
              <a:srgbClr val="0E0E2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-16011331" y="0"/>
            <a:ext cx="12192000" cy="4064000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-15635413" y="-824293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0" y="-6527965"/>
            <a:ext cx="12192000" cy="266192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375918" y="-7370288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0" y="-2348602"/>
            <a:ext cx="12192000" cy="1286717"/>
          </a:xfrm>
          <a:prstGeom prst="rect">
            <a:avLst/>
          </a:prstGeom>
          <a:solidFill>
            <a:srgbClr val="A5A5A5"/>
          </a:solidFill>
          <a:ln cap="flat" cmpd="sng" w="12700">
            <a:solidFill>
              <a:srgbClr val="A5A5A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375918" y="-3289570"/>
            <a:ext cx="1665273" cy="1286718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5F5F5"/>
          </a:solidFill>
          <a:ln cap="flat" cmpd="sng" w="12700">
            <a:solidFill>
              <a:srgbClr val="F5F5F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 txBox="1"/>
          <p:nvPr/>
        </p:nvSpPr>
        <p:spPr>
          <a:xfrm>
            <a:off x="-15635414" y="-6083570"/>
            <a:ext cx="10947883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3A3838"/>
                </a:solidFill>
                <a:latin typeface="Calibri"/>
                <a:ea typeface="Calibri"/>
                <a:cs typeface="Calibri"/>
                <a:sym typeface="Calibri"/>
              </a:rPr>
              <a:t>Defining the term “Dispatcher”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3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3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 txBox="1"/>
          <p:nvPr/>
        </p:nvSpPr>
        <p:spPr>
          <a:xfrm>
            <a:off x="289367" y="231494"/>
            <a:ext cx="11655706" cy="75713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1 – PART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“MY STORY”		SUMMARY		BUSINESS EMAIL		EMAIL MARKETING “2 week”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AND PHONE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×WHY DO WE NEED		MULTI- TASKING					BROKERS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“DSPATCHER’S” 					COLD CALLING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			MARKETING					LOAD PLANNING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ROUTING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×PROTECTING 		LOAD BOARDS					CARRIER PACKET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YOURSELF					KEEP YOUR EYE 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COMPANY CHECKS		THE WEATHER		*SUB DISPATCHING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FREIGHT			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PAYPAL AND SQUARE	SHIPPERS			ADOBE READER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CARRIERS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*SET-UP COST		CARRIERS			×MAKE YOUR OWN RATES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SHIPPERS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CARRIER PACKETS		LOAD FINDER		BE PROFESSIONAL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AGREEMENTS					AGREEMENTS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MAKING FILLABLE					BEING YOUR OWN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AGREEMENTS		AGREEMENTS		PAPERWORK ONLY 		BOSS IS GREAT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AGREEMENT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CARRIER		MICROSOFT 365					EXCEL, WORD, POWERPOINT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CALCULATING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TWIC			CPM			FUEL MILEAGE		DAY OF A DISPATCHER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/>
        </p:nvSpPr>
        <p:spPr>
          <a:xfrm>
            <a:off x="81023" y="0"/>
            <a:ext cx="12110977" cy="7294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TRUCKING INDUSTRY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TRUCKS			KEEPING TRACK 		ORDERING PERMITS	BOX TRUCKS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OF EVERYTHING		AND PILOT CARS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ELD’S									CONTAINERS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MANAGING YOUR		DON’T WASTE 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UNDERSTANDING		TIME			CARRIERS TIME		MONEY TO BE MADE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LOGBOOKS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FREIGHT NEVER 		DAY OF A DRIVER		×STICK WITH YOUR NITCH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 BAGS			STOPS MOVING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DRY VAN			CANADA AND MEXICO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SAFER WEBSITE		IS DISPATCHING 	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WORTH IT		REEFER			AIR FREIGHT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FMCSA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CREDIT CHECKS		FLATBED/STEP DECK/RGN	DUMP TRUCKS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CERTICATATE OF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INSURANSE		GENERAL FREIGHT		HOT SHOTS		WALKER TRAILER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MC# AND DOT#		SPECIAL FREIGHT		TANKERS			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RIGHT NUMBERS	OVERSIZE FREIGHT		CAR HAULERS		HOURS OF SERVICES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YOUR OWN	KEEP YOUR PHONE ON	GRAIN HAULER		EARLY BIRD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AGREEMENTS							GETS THE WORM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 txBox="1"/>
          <p:nvPr/>
        </p:nvSpPr>
        <p:spPr>
          <a:xfrm>
            <a:off x="-86206" y="-73891"/>
            <a:ext cx="12192000" cy="7294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WAREHOUSES		INTERSTATE/INTERASTATE	                                                 how to schedule road side assistance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DOCKS	                                   Be An Agent.                                                                               Accounts with road side assist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RECEVIERS.                                 Always looking for Next load.                                                  CSA Score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POD’S.                                         Big Green Book The law.                                                          Rate Types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CONFIRMATION.              Freight Rate Book 300 bucks.                                                 On the Job Training ‐separate fee-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CALLS.                             Small loads may lead to big loads                                         CWT – Centum Weight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INVOICING.                                 Load abandonment.                                                                 Carrier Packet Deal for New Dispatchers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FACTORING.                                How to manage multiple trucks.                                            PreCool Trailer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WORKMENS COMP                   make a brokers vs shippers video for youtube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ESSESITOES                                 Conestoga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RATES                                           traffic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                                     carrier packets are always different but info is always same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E-FAX.                                           Have them read the CDL Manual if needed…explain what it can teach them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Questions For Drivers</a:t>
            </a:r>
            <a:endParaRPr/>
          </a:p>
        </p:txBody>
      </p:sp>
      <p:sp>
        <p:nvSpPr>
          <p:cNvPr id="217" name="Google Shape;217;p9"/>
          <p:cNvSpPr txBox="1"/>
          <p:nvPr>
            <p:ph idx="1" type="body"/>
          </p:nvPr>
        </p:nvSpPr>
        <p:spPr>
          <a:xfrm>
            <a:off x="813460" y="202354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Would you be interested in working with new dispatchers for a lower rate?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/>
          <p:nvPr/>
        </p:nvSpPr>
        <p:spPr>
          <a:xfrm>
            <a:off x="0" y="0"/>
            <a:ext cx="3004457" cy="72635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Freight Dispatcher”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“My Story”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1 – PART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Do We Need Dispatchers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Dispatching Worth It (Showing the Numbers)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you need to be a dispatcher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1 – PART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Freight Never Stops Moving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Money to be Made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Protecting Yourself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Your Own Boss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Stick To Your Nitch 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Explanation of the Board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3111759" y="111329"/>
            <a:ext cx="3004457" cy="97257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“Learning the Trucking Industry”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2 – PART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 of  Driver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 of the Industry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Logbooks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ELD’s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FMCSA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BOL/POD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Smith System***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Military Time***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Sleep***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2 – PART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Oversize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Air Bags VS Springs***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Endorsements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Adjusting Tandems/fifth wheel and Weight Limits***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6096000" y="-1517222"/>
            <a:ext cx="3144416" cy="1828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“Learning the Dispatching Job”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Your Own Rates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Packet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COMFIRMATION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Invoices and Collections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Agreements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Dispatcher Agreement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Finder Agreement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Paperwork Agreement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Agreement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profile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Carriers Paperwork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of Insurance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Holder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W-9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 Authority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Workmen's Comp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for Dispatching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365/Google Doc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looking a hide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Adobe Reader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PDF Editor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Boards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Boards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Start-Up Cost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Day of a Dispatcher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Your Phone On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Professional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Moving Freight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Managing Your Time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Multi-Tasking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3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Negotiations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 Calling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Carriers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LLC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CPM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Invoicing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Getting Paid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Shippers VS Brokers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Best Lanes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9120673" y="142106"/>
            <a:ext cx="3103984" cy="9664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“Learning the Dispatching Job”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4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Fillable Agreements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Custom Agreements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 Card authorization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 Payments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5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Oversize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Calls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Your Eye on the Weather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Ordering Permits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 Checks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Track Of Everything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Mexico and Canada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Fuel Mileage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Bird Gets the Worm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Planning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Tips-Tricks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 set my business up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LESSON 3 – PART 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/>
        </p:nvSpPr>
        <p:spPr>
          <a:xfrm>
            <a:off x="6132162" y="-164892"/>
            <a:ext cx="3144416" cy="3016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41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7704370" y="149902"/>
            <a:ext cx="3793086" cy="42165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Freight Dispatcher 101 – FREE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Subjects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 Dispatcher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the Numbers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Dispatching Worth It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Freight Never Stops Moving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Money To Be Made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Your Own Boss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118198" y="-3078701"/>
            <a:ext cx="3582649" cy="97872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Freight Dispatcher 101 - Basics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Subjects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to Expect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Business Growth Formula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Goal of Dispatching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Carriers Part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Carriers Part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Shippers Part 1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Shippers Part 2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 of the Indusrty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With New Brokers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Ask New Brokers To Help You Out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Tools/Software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Protecting Yourself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Dispatcher Agreements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Dispatcher’s Life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Carriers Paperwork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Your Clients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“VENTING” Clients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Cold Calling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Talking to Brokers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Carrier Packets/Rate Coms.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Your Loads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Finding Good Lanes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Calls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Invoice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 Checks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3911284" y="-2734827"/>
            <a:ext cx="3582649" cy="11172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Freight Dispatcher 101 - Advanced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Subjects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Negotiation Tips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Tools/Software Guide $$$$$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Oversize Freight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Ordering Permits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Stick to Your Nitch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Your Eye on the Weather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Credit Checks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Keep Track Of Everything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Mexico and Canada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Calculating Fuel MileagE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 a Carrier to Factoring  Company Get a persent everything u get a load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Bird Gets the Worm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Planning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Tips-Tricks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Brokers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Shippers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I set my business up $$$$$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Fillable Agreements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Creating Custom Agreements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Factor Payments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upwork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Lessons</a:t>
            </a:r>
            <a:endParaRPr/>
          </a:p>
        </p:txBody>
      </p:sp>
      <p:sp>
        <p:nvSpPr>
          <p:cNvPr id="239" name="Google Shape;23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Get better at dispatching book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2021-01-27T01:55:21Z</dcterms:created>
  <dc:creator>Jesse Conley</dc:creator>
</cp:coreProperties>
</file>